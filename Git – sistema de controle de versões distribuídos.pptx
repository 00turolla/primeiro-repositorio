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8" r:id="rId7"/>
    <p:sldId id="319" r:id="rId8"/>
    <p:sldId id="320" r:id="rId9"/>
    <p:sldId id="322" r:id="rId10"/>
    <p:sldId id="323" r:id="rId11"/>
    <p:sldId id="324" r:id="rId12"/>
    <p:sldId id="325" r:id="rId13"/>
    <p:sldId id="309" r:id="rId14"/>
    <p:sldId id="326" r:id="rId15"/>
  </p:sldIdLst>
  <p:sldSz cx="12192000" cy="6858000"/>
  <p:notesSz cx="6858000" cy="9144000"/>
  <p:defaultTextStyle>
    <a:defPPr rtl="0">
      <a:defRPr lang="pt-BR"/>
    </a:defPPr>
    <a:lvl1pPr marL="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3972" y="1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pPr rtl="0"/>
            <a:fld id="{C7F52948-4D90-4E66-8863-299E2D891C34}" type="datetime1">
              <a:rPr lang="pt-BR" smtClean="0"/>
              <a:t>27/05/2026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4BF9A36D-7FAC-478F-9944-F324014F6FD1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pt-BR" sz="1200"/>
            </a:lvl1pPr>
          </a:lstStyle>
          <a:p>
            <a:fld id="{084E3F4E-D410-4272-8B8A-C8F6221579FE}" type="datetime1">
              <a:rPr lang="pt-BR" smtClean="0"/>
              <a:pPr/>
              <a:t>27/05/2026</a:t>
            </a:fld>
            <a:endParaRPr lang="pt-BR" dirty="0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5" name="Espaço Reservado para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pt-BR" sz="1200"/>
            </a:lvl1pPr>
          </a:lstStyle>
          <a:p>
            <a:pPr rtl="0"/>
            <a:endParaRPr lang="pt-BR" dirty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pt-BR" sz="1200"/>
            </a:lvl1pPr>
          </a:lstStyle>
          <a:p>
            <a:pPr rtl="0"/>
            <a:fld id="{D4B9A9E5-4F7F-4A7D-9DE1-899232329269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pt-BR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864728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5551265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6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8656568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7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100108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8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7923820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9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17676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endParaRPr lang="pt-BR" dirty="0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D4B9A9E5-4F7F-4A7D-9DE1-899232329269}" type="slidenum">
              <a:rPr lang="pt-BR" smtClean="0"/>
              <a:t>10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Elemento gráfico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rtlCol="0" anchor="b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 rtlCol="0">
            <a:normAutofit/>
          </a:bodyPr>
          <a:lstStyle>
            <a:lvl1pPr marL="0" indent="0">
              <a:lnSpc>
                <a:spcPct val="120000"/>
              </a:lnSpc>
              <a:buNone/>
              <a:defRPr lang="pt-BR" sz="2000"/>
            </a:lvl1pPr>
            <a:lvl2pPr>
              <a:lnSpc>
                <a:spcPct val="120000"/>
              </a:lnSpc>
              <a:defRPr lang="pt-BR" sz="1800"/>
            </a:lvl2pPr>
            <a:lvl3pPr>
              <a:lnSpc>
                <a:spcPct val="120000"/>
              </a:lnSpc>
              <a:defRPr lang="pt-BR" sz="1600"/>
            </a:lvl3pPr>
            <a:lvl4pPr>
              <a:lnSpc>
                <a:spcPct val="120000"/>
              </a:lnSpc>
              <a:defRPr lang="pt-BR" sz="1400"/>
            </a:lvl4pPr>
            <a:lvl5pPr>
              <a:lnSpc>
                <a:spcPct val="120000"/>
              </a:lnSpc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a Seçã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Elemento Gráfico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Imagem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inserir a imagem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são geral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rtlCol="0" anchor="b">
            <a:normAutofit/>
          </a:bodyPr>
          <a:lstStyle>
            <a:lvl1pPr>
              <a:defRPr lang="pt-BR" sz="48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ct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 rtlCol="0">
            <a:normAutofit/>
          </a:bodyPr>
          <a:lstStyle>
            <a:lvl1pPr marL="0" indent="0">
              <a:buFont typeface="Arial" panose="020B0604020202020204" pitchFamily="34" charset="0"/>
              <a:buNone/>
              <a:defRPr lang="pt-BR" sz="2000"/>
            </a:lvl1pPr>
            <a:lvl2pPr marL="457200" indent="0">
              <a:buNone/>
              <a:defRPr lang="pt-BR" sz="1800"/>
            </a:lvl2pPr>
            <a:lvl3pPr marL="914400" indent="0">
              <a:buNone/>
              <a:defRPr lang="pt-BR" sz="1600"/>
            </a:lvl3pPr>
            <a:lvl4pPr marL="1371600" indent="0">
              <a:buNone/>
              <a:defRPr lang="pt-BR" sz="1400"/>
            </a:lvl4pPr>
            <a:lvl5pPr marL="1828800" indent="0">
              <a:buNone/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esquerda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Elemento gráfico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11" name="Espaço Reservado para Imagem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l">
              <a:buNone/>
              <a:defRPr lang="pt-BR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  <p:sp>
        <p:nvSpPr>
          <p:cNvPr id="9" name="Espaço Reservado para Conteúdo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pt-BR"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pt-BR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1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1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1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1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1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/>
            </a:lvl1pPr>
            <a:lvl2pPr>
              <a:spcBef>
                <a:spcPts val="0"/>
              </a:spcBef>
              <a:spcAft>
                <a:spcPts val="1200"/>
              </a:spcAft>
              <a:defRPr lang="pt-BR" sz="1800"/>
            </a:lvl2pPr>
            <a:lvl3pPr>
              <a:spcBef>
                <a:spcPts val="0"/>
              </a:spcBef>
              <a:spcAft>
                <a:spcPts val="1200"/>
              </a:spcAft>
              <a:defRPr lang="pt-BR" sz="1600"/>
            </a:lvl3pPr>
            <a:lvl4pPr>
              <a:spcBef>
                <a:spcPts val="0"/>
              </a:spcBef>
              <a:spcAft>
                <a:spcPts val="1200"/>
              </a:spcAft>
              <a:defRPr lang="pt-BR" sz="1400"/>
            </a:lvl4pPr>
            <a:lvl5pPr>
              <a:spcBef>
                <a:spcPts val="0"/>
              </a:spcBef>
              <a:spcAft>
                <a:spcPts val="1200"/>
              </a:spcAft>
              <a:defRPr lang="pt-BR" sz="140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direit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ítulo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0" name="Espaço Reservado para Conteúdo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0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0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0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0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  <p:sp>
        <p:nvSpPr>
          <p:cNvPr id="12" name="Espaço Reservado para Imagem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 rtlCol="0">
            <a:normAutofit/>
          </a:bodyPr>
          <a:lstStyle>
            <a:lvl1pPr marL="0" indent="0" algn="r">
              <a:buNone/>
              <a:defRPr lang="pt-BR" sz="2000"/>
            </a:lvl1pPr>
          </a:lstStyle>
          <a:p>
            <a:pPr rtl="0"/>
            <a:r>
              <a:rPr lang="pt-BR"/>
              <a:t>Clique no ícone para adicionar uma imagem</a:t>
            </a:r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do Título e Tabel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lemento Gráfico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tângulo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</a:lstStyle>
          <a:p>
            <a:pPr algn="ctr" rtl="0"/>
            <a:endParaRPr lang="pt-BR" dirty="0"/>
          </a:p>
        </p:txBody>
      </p:sp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0"/>
            </a:lvl1pPr>
            <a:lvl2pPr>
              <a:spcBef>
                <a:spcPts val="0"/>
              </a:spcBef>
              <a:spcAft>
                <a:spcPts val="1200"/>
              </a:spcAft>
              <a:defRPr lang="pt-BR" sz="1800" b="0"/>
            </a:lvl2pPr>
            <a:lvl3pPr>
              <a:spcBef>
                <a:spcPts val="0"/>
              </a:spcBef>
              <a:spcAft>
                <a:spcPts val="1200"/>
              </a:spcAft>
              <a:defRPr lang="pt-BR" sz="1600" b="0"/>
            </a:lvl3pPr>
            <a:lvl4pPr>
              <a:spcBef>
                <a:spcPts val="0"/>
              </a:spcBef>
              <a:spcAft>
                <a:spcPts val="1200"/>
              </a:spcAft>
              <a:defRPr lang="pt-BR" sz="1400" b="0"/>
            </a:lvl4pPr>
            <a:lvl5pPr>
              <a:spcBef>
                <a:spcPts val="0"/>
              </a:spcBef>
              <a:spcAft>
                <a:spcPts val="1200"/>
              </a:spcAft>
              <a:defRPr lang="pt-BR" sz="14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3" name="Espaço Reservado da Mesa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 rtlCol="0">
            <a:normAutofit/>
          </a:bodyPr>
          <a:lstStyle>
            <a:lvl1pPr>
              <a:defRPr lang="pt-BR" sz="2000"/>
            </a:lvl1pPr>
          </a:lstStyle>
          <a:p>
            <a:pPr rtl="0"/>
            <a:r>
              <a:rPr lang="pt-BR"/>
              <a:t>Clique no ícone para inserir a tabela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 dois Conteúdos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lemento gráfico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Elemento gráfico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11" name="Espaço Reservado para Conteúdo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 rtlCol="0"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lang="pt-BR"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lang="pt-BR"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lang="pt-BR"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lang="pt-BR"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lang="pt-BR" sz="1600" b="0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12" name="Espaço Reservado para Conteúdo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pt-BR"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lang="pt-BR"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lang="pt-BR"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lang="pt-BR"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lang="pt-BR" sz="1400" b="1"/>
            </a:lvl5pPr>
          </a:lstStyle>
          <a:p>
            <a:pPr lvl="0" rtl="0"/>
            <a:r>
              <a:rPr lang="pt-BR"/>
              <a:t>Clique para adicionar o texto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 rtlCol="0">
            <a:normAutofit/>
          </a:bodyPr>
          <a:lstStyle>
            <a:lvl1pPr>
              <a:defRPr lang="pt-BR" sz="3200"/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9" name="Espaço Reservado para Tabela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 rtlCol="0">
            <a:normAutofit/>
          </a:bodyPr>
          <a:lstStyle>
            <a:lvl1pPr>
              <a:defRPr lang="pt-BR" sz="2400"/>
            </a:lvl1pPr>
          </a:lstStyle>
          <a:p>
            <a:pPr rtl="0"/>
            <a:r>
              <a:rPr lang="pt-BR"/>
              <a:t>Clique no ícone para adicionar tabela</a:t>
            </a:r>
          </a:p>
        </p:txBody>
      </p:sp>
      <p:sp>
        <p:nvSpPr>
          <p:cNvPr id="5" name="Espaço Reservado para o Número do Slide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1200">
                <a:solidFill>
                  <a:schemeClr val="tx1"/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chament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rtlCol="0" anchor="b">
            <a:normAutofit/>
          </a:bodyPr>
          <a:lstStyle>
            <a:lvl1pPr>
              <a:defRPr lang="pt-BR" sz="4800">
                <a:solidFill>
                  <a:schemeClr val="bg1"/>
                </a:solidFill>
              </a:defRPr>
            </a:lvl1pPr>
          </a:lstStyle>
          <a:p>
            <a:pPr rtl="0"/>
            <a:r>
              <a:rPr lang="pt-BR"/>
              <a:t>Clique para adicionar um título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lang="pt-BR"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lang="pt-BR" sz="1200" baseline="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pt-BR"/>
              <a:t>Clique para adicionar conteúdo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pic>
        <p:nvPicPr>
          <p:cNvPr id="2" name="Elemento Gráfico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pt-BR"/>
            </a:defPPr>
          </a:lstStyle>
          <a:p>
            <a:pPr rtl="0"/>
            <a:r>
              <a:rPr lang="pt-BR"/>
              <a:t>Clique para editar o estilo de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pt-BR"/>
            </a:defPPr>
          </a:lstStyle>
          <a:p>
            <a:pPr lvl="0" rtl="0"/>
            <a:r>
              <a:rPr lang="pt-BR"/>
              <a:t>Clique para editar o texto Mestre</a:t>
            </a:r>
          </a:p>
          <a:p>
            <a:pPr lvl="1" rtl="0"/>
            <a:r>
              <a:rPr lang="pt-BR"/>
              <a:t>Segundo nível</a:t>
            </a:r>
          </a:p>
          <a:p>
            <a:pPr lvl="2" rtl="0"/>
            <a:r>
              <a:rPr lang="pt-BR"/>
              <a:t>Terceiro nível</a:t>
            </a:r>
          </a:p>
          <a:p>
            <a:pPr lvl="3" rtl="0"/>
            <a:r>
              <a:rPr lang="pt-BR"/>
              <a:t>Quarto nível</a:t>
            </a:r>
          </a:p>
          <a:p>
            <a:pPr lvl="4" rtl="0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pt-BR"/>
              <a:t>Apresentação</a:t>
            </a:r>
          </a:p>
        </p:txBody>
      </p:sp>
      <p:sp>
        <p:nvSpPr>
          <p:cNvPr id="6" name="Espaço Reservado para o Número do Slide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pt-BR"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B5CEABB6-07DC-46E8-9B57-56EC44A396E5}" type="slidenum">
              <a:rPr lang="pt-BR" smtClean="0"/>
              <a:pPr rtl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pt-BR"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pt-BR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pt-BR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svg"/><Relationship Id="rId4" Type="http://schemas.openxmlformats.org/officeDocument/2006/relationships/image" Target="../media/image19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sv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25.svg"/><Relationship Id="rId4" Type="http://schemas.openxmlformats.org/officeDocument/2006/relationships/hyperlink" Target="mailto:seu-email@exemplo.com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0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2773682"/>
            <a:ext cx="5121897" cy="2090550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800" u="sng" dirty="0" err="1">
                <a:latin typeface="Berlin Sans FB Demi" panose="020E0802020502020306" pitchFamily="34" charset="0"/>
              </a:rPr>
              <a:t>Git</a:t>
            </a:r>
            <a:r>
              <a:rPr lang="pt-BR" u="sng" dirty="0">
                <a:latin typeface="Berlin Sans FB Demi" panose="020E0802020502020306" pitchFamily="34" charset="0"/>
              </a:rPr>
              <a:t> </a:t>
            </a:r>
            <a:r>
              <a:rPr lang="pt-BR" sz="2800" u="sng" dirty="0">
                <a:latin typeface="Berlin Sans FB Demi" panose="020E0802020502020306" pitchFamily="34" charset="0"/>
              </a:rPr>
              <a:t>–</a:t>
            </a:r>
            <a:r>
              <a:rPr lang="pt-BR" u="sng" dirty="0">
                <a:latin typeface="Berlin Sans FB Demi" panose="020E0802020502020306" pitchFamily="34" charset="0"/>
              </a:rPr>
              <a:t> </a:t>
            </a:r>
            <a:r>
              <a:rPr lang="pt-BR" sz="2800" u="sng" dirty="0">
                <a:latin typeface="Berlin Sans FB Demi" panose="020E0802020502020306" pitchFamily="34" charset="0"/>
              </a:rPr>
              <a:t>sistema de controle de versões distribuídos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4246680-DF28-8519-8EB2-FC0507B3C44F}"/>
              </a:ext>
            </a:extLst>
          </p:cNvPr>
          <p:cNvSpPr txBox="1"/>
          <p:nvPr/>
        </p:nvSpPr>
        <p:spPr>
          <a:xfrm>
            <a:off x="6096000" y="5184742"/>
            <a:ext cx="3995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Eyck, Takeo,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Julio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,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Lucas.H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 </a:t>
            </a:r>
            <a:r>
              <a:rPr lang="pt-BR" dirty="0" err="1">
                <a:solidFill>
                  <a:schemeClr val="bg1">
                    <a:lumMod val="95000"/>
                  </a:schemeClr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Turolla</a:t>
            </a:r>
            <a:endParaRPr lang="pt-BR" dirty="0">
              <a:solidFill>
                <a:schemeClr val="bg1">
                  <a:lumMod val="95000"/>
                </a:schemeClr>
              </a:solidFill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FAD7DC0-9A21-5930-F734-1318D50C7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208" y="-1628186"/>
            <a:ext cx="3571875" cy="6343650"/>
          </a:xfrm>
          <a:prstGeom prst="rect">
            <a:avLst/>
          </a:prstGeom>
        </p:spPr>
      </p:pic>
      <p:pic>
        <p:nvPicPr>
          <p:cNvPr id="7" name="Gráfico 6" descr="Seta para Direita estrutura de tópicos">
            <a:extLst>
              <a:ext uri="{FF2B5EF4-FFF2-40B4-BE49-F238E27FC236}">
                <a16:creationId xmlns:a16="http://schemas.microsoft.com/office/drawing/2014/main" id="{00CA04FC-F0A7-E3EF-F464-8C9265529C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96000" y="4577464"/>
            <a:ext cx="2110034" cy="791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3474D05E-8A36-8D9F-519E-DB514A69D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5802" y="315533"/>
            <a:ext cx="5040198" cy="56870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sz="2500" dirty="0"/>
              <a:t>  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20C1E08-E337-110E-DB8E-41BA4A3341A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92230" y="884236"/>
            <a:ext cx="6711885" cy="5089527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pPr rtl="0"/>
            <a:endParaRPr lang="pt-BR" dirty="0"/>
          </a:p>
          <a:p>
            <a:pPr rtl="0"/>
            <a:r>
              <a:rPr lang="pt-BR" u="sng" dirty="0">
                <a:highlight>
                  <a:srgbClr val="C0C0C0"/>
                </a:highlight>
              </a:rPr>
              <a:t>O QUE É O GIT</a:t>
            </a:r>
          </a:p>
          <a:p>
            <a:pPr rtl="0"/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é um sistema que permite ter o controle De versões distribuídas, controlando arquivos ao longo do tempo. Funcionado  como se fosse uma maquina do tempo de um projeto.</a:t>
            </a:r>
          </a:p>
          <a:p>
            <a:pPr rtl="0"/>
            <a:r>
              <a:rPr lang="pt-BR" u="sng" dirty="0">
                <a:highlight>
                  <a:srgbClr val="C0C0C0"/>
                </a:highlight>
              </a:rPr>
              <a:t>CONTROLE DE VERSÕES</a:t>
            </a:r>
          </a:p>
          <a:p>
            <a:pPr rtl="0"/>
            <a:r>
              <a:rPr lang="pt-BR" dirty="0"/>
              <a:t>Em vez de salvar em vários arquivos, ele gerencia tudo e apenas uma pasta.</a:t>
            </a:r>
          </a:p>
          <a:p>
            <a:pPr rtl="0"/>
            <a:r>
              <a:rPr lang="pt-BR" u="sng" dirty="0">
                <a:highlight>
                  <a:srgbClr val="C0C0C0"/>
                </a:highlight>
              </a:rPr>
              <a:t>DISTRIBUIDO</a:t>
            </a:r>
          </a:p>
          <a:p>
            <a:pPr rtl="0"/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é distribuído pois diferente dos sistemas antigos que ficavam salvos em apenas um servidor, ele permite que diferentes pessoas possam ter o repertorio na própria maquina através de uma copia(chamado clone). </a:t>
            </a:r>
          </a:p>
          <a:p>
            <a:pPr rtl="0"/>
            <a:endParaRPr lang="pt-BR" dirty="0"/>
          </a:p>
        </p:txBody>
      </p:sp>
      <p:sp>
        <p:nvSpPr>
          <p:cNvPr id="2" name="Espaço Reservado para o Número do Slide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25EE47EB-D372-2B38-AAB4-8B4C7DA2E2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/>
        </p:blipFill>
        <p:spPr>
          <a:xfrm rot="20267210">
            <a:off x="6518174" y="588122"/>
            <a:ext cx="5744995" cy="4308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  <a:r>
              <a:rPr lang="pt-BR" sz="3200" dirty="0"/>
              <a:t>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9F97739-E0DF-24F3-7886-013A799A52C3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2413262" y="1819373"/>
            <a:ext cx="9172279" cy="4723095"/>
          </a:xfrm>
        </p:spPr>
        <p:txBody>
          <a:bodyPr rtlCol="0">
            <a:normAutofit fontScale="92500" lnSpcReduction="20000"/>
          </a:bodyPr>
          <a:lstStyle>
            <a:defPPr>
              <a:defRPr lang="pt-BR"/>
            </a:defPPr>
          </a:lstStyle>
          <a:p>
            <a:pPr marL="3657600" lvl="8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3800" u="sng" dirty="0" err="1"/>
              <a:t>Git</a:t>
            </a:r>
            <a:r>
              <a:rPr lang="pt-BR" sz="3800" u="sng" dirty="0"/>
              <a:t> </a:t>
            </a:r>
            <a:r>
              <a:rPr lang="pt-BR" sz="3800" u="sng" dirty="0" err="1"/>
              <a:t>Init</a:t>
            </a:r>
            <a:endParaRPr lang="pt-BR" sz="3800" u="sng" dirty="0"/>
          </a:p>
          <a:p>
            <a:pPr marL="3657600" lvl="8" indent="0">
              <a:spcBef>
                <a:spcPts val="0"/>
              </a:spcBef>
              <a:spcAft>
                <a:spcPts val="1200"/>
              </a:spcAft>
              <a:buNone/>
            </a:pPr>
            <a:endParaRPr lang="pt-BR" dirty="0"/>
          </a:p>
          <a:p>
            <a:pPr marL="3657600" lvl="8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pt-BR" dirty="0"/>
              <a:t>O comando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r>
              <a:rPr lang="pt-BR" dirty="0"/>
              <a:t> normalmente é o primeiro comando utilizado em um projeto </a:t>
            </a:r>
            <a:r>
              <a:rPr lang="pt-BR" dirty="0" err="1"/>
              <a:t>Git</a:t>
            </a:r>
            <a:r>
              <a:rPr lang="pt-BR" dirty="0"/>
              <a:t>. Ele transforma uma pasta comum do computador em um repositório </a:t>
            </a:r>
            <a:r>
              <a:rPr lang="pt-BR" dirty="0" err="1"/>
              <a:t>Git</a:t>
            </a:r>
            <a:r>
              <a:rPr lang="pt-BR" dirty="0"/>
              <a:t>, permitindo o controle de versões dos arquivos e a execução dos comandos do </a:t>
            </a:r>
            <a:r>
              <a:rPr lang="pt-BR" dirty="0" err="1"/>
              <a:t>Git</a:t>
            </a:r>
            <a:r>
              <a:rPr lang="pt-BR" dirty="0"/>
              <a:t> no diretório.</a:t>
            </a:r>
          </a:p>
          <a:p>
            <a:pPr marL="3657600" lvl="8" indent="0">
              <a:spcBef>
                <a:spcPts val="0"/>
              </a:spcBef>
              <a:spcAft>
                <a:spcPts val="1200"/>
              </a:spcAft>
              <a:buNone/>
            </a:pPr>
            <a:endParaRPr lang="pt-BR" sz="2000" cap="none" dirty="0">
              <a:cs typeface="Calibri"/>
            </a:endParaRPr>
          </a:p>
          <a:p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init</a:t>
            </a:r>
            <a:r>
              <a:rPr lang="pt-BR" dirty="0"/>
              <a:t>;</a:t>
            </a:r>
          </a:p>
          <a:p>
            <a:r>
              <a:rPr lang="pt-BR" dirty="0"/>
              <a:t>Geralmente é o primeiro comando utilizado no </a:t>
            </a:r>
            <a:r>
              <a:rPr lang="pt-BR" dirty="0" err="1"/>
              <a:t>Git</a:t>
            </a:r>
            <a:r>
              <a:rPr lang="pt-BR" dirty="0"/>
              <a:t>.</a:t>
            </a:r>
          </a:p>
          <a:p>
            <a:r>
              <a:rPr lang="pt-BR" dirty="0"/>
              <a:t>Transforma uma pasta comum em um repositório </a:t>
            </a:r>
            <a:r>
              <a:rPr lang="pt-BR" dirty="0" err="1"/>
              <a:t>Git</a:t>
            </a:r>
            <a:r>
              <a:rPr lang="pt-BR" dirty="0"/>
              <a:t>.</a:t>
            </a:r>
          </a:p>
          <a:p>
            <a:r>
              <a:rPr lang="pt-BR" dirty="0"/>
              <a:t>Cria uma pasta oculta chamada .</a:t>
            </a:r>
            <a:r>
              <a:rPr lang="pt-BR" dirty="0" err="1"/>
              <a:t>git</a:t>
            </a:r>
            <a:endParaRPr lang="pt-BR" dirty="0"/>
          </a:p>
          <a:p>
            <a:r>
              <a:rPr lang="pt-BR" dirty="0"/>
              <a:t>Permite o controle de versões dos arquivos.</a:t>
            </a:r>
          </a:p>
          <a:p>
            <a:r>
              <a:rPr lang="pt-BR" dirty="0"/>
              <a:t>Habilita a execução dos comandos </a:t>
            </a:r>
            <a:r>
              <a:rPr lang="pt-BR" dirty="0" err="1"/>
              <a:t>Git</a:t>
            </a:r>
            <a:r>
              <a:rPr lang="pt-BR" dirty="0"/>
              <a:t> dentro do diretório.</a:t>
            </a:r>
          </a:p>
          <a:p>
            <a:pPr marL="3657600" lvl="8" indent="0">
              <a:spcBef>
                <a:spcPts val="0"/>
              </a:spcBef>
              <a:spcAft>
                <a:spcPts val="1200"/>
              </a:spcAft>
              <a:buNone/>
            </a:pPr>
            <a:endParaRPr lang="pt-BR" sz="2000" cap="none" dirty="0">
              <a:cs typeface="Calibri"/>
            </a:endParaRPr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 rtlCol="0"/>
          <a:lstStyle>
            <a:defPPr>
              <a:defRPr lang="pt-BR"/>
            </a:defPPr>
          </a:lstStyle>
          <a:p>
            <a:pPr rtl="0"/>
            <a:fld id="{B5CEABB6-07DC-46E8-9B57-56EC44A396E5}" type="slidenum">
              <a:rPr lang="pt-BR" smtClean="0"/>
              <a:pPr rtl="0"/>
              <a:t>3</a:t>
            </a:fld>
            <a:endParaRPr lang="pt-BR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1A2B095C-1234-2944-4301-141608025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9464512" y="4180920"/>
            <a:ext cx="2394408" cy="167082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CF345505-A4E3-AA02-7B68-98E78E81E9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3732" y="0"/>
            <a:ext cx="3925305" cy="3588641"/>
          </a:xfrm>
          <a:prstGeom prst="rect">
            <a:avLst/>
          </a:prstGeom>
        </p:spPr>
      </p:pic>
      <p:pic>
        <p:nvPicPr>
          <p:cNvPr id="10" name="Gráfico 9" descr="Antártica com preenchimento sólido">
            <a:extLst>
              <a:ext uri="{FF2B5EF4-FFF2-40B4-BE49-F238E27FC236}">
                <a16:creationId xmlns:a16="http://schemas.microsoft.com/office/drawing/2014/main" id="{3B56BB5C-5CB9-86BF-17A8-C48D60EC6C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4243241" y="1568210"/>
            <a:ext cx="6994689" cy="699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08221-C29B-07A3-B569-B8B466B1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6021" y="375285"/>
            <a:ext cx="5006657" cy="77202"/>
          </a:xfrm>
        </p:spPr>
        <p:txBody>
          <a:bodyPr rtlCol="0">
            <a:normAutofit fontScale="90000"/>
          </a:bodyPr>
          <a:lstStyle>
            <a:defPPr>
              <a:defRPr lang="pt-BR"/>
            </a:defPPr>
          </a:lstStyle>
          <a:p>
            <a:r>
              <a:rPr lang="pt-BR" sz="2200" dirty="0"/>
              <a:t> </a:t>
            </a:r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EE30546E-D63D-6DD8-4DA7-41DD51A44C2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4046" r="4046"/>
          <a:stretch/>
        </p:blipFill>
        <p:spPr>
          <a:xfrm>
            <a:off x="0" y="0"/>
            <a:ext cx="6096000" cy="6858000"/>
          </a:xfrm>
        </p:spPr>
      </p:pic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BEA7D4-8B96-5A0E-252E-6B8E8B1CF178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986021" y="827772"/>
            <a:ext cx="4896677" cy="5106403"/>
          </a:xfrm>
        </p:spPr>
        <p:txBody>
          <a:bodyPr rtlCol="0">
            <a:normAutofit fontScale="77500" lnSpcReduction="20000"/>
          </a:bodyPr>
          <a:lstStyle>
            <a:defPPr>
              <a:defRPr lang="pt-BR"/>
            </a:defPPr>
          </a:lstStyle>
          <a:p>
            <a:r>
              <a:rPr lang="pt-BR" sz="4000" u="sng" noProof="1"/>
              <a:t>Git Add &amp; Commit</a:t>
            </a:r>
          </a:p>
          <a:p>
            <a:endParaRPr lang="pt-BR" noProof="1"/>
          </a:p>
          <a:p>
            <a:r>
              <a:rPr lang="pt-BR" noProof="1"/>
              <a:t>G</a:t>
            </a:r>
            <a:r>
              <a:rPr lang="pt-BR" dirty="0"/>
              <a:t>it </a:t>
            </a:r>
            <a:r>
              <a:rPr lang="pt-BR" dirty="0" err="1"/>
              <a:t>add</a:t>
            </a:r>
            <a:r>
              <a:rPr lang="pt-BR" dirty="0"/>
              <a:t> e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são comandos normalmente utilizados em conjunto. 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 prepara as alterações realizadas nos arquivos para serem registradas. Já 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commit</a:t>
            </a:r>
            <a:r>
              <a:rPr lang="pt-BR" dirty="0"/>
              <a:t> salva essas alterações no histórico do projeto.</a:t>
            </a:r>
          </a:p>
          <a:p>
            <a:endParaRPr lang="pt-BR" u="sng" noProof="1"/>
          </a:p>
          <a:p>
            <a:r>
              <a:rPr lang="pt-BR" u="sng" dirty="0" err="1"/>
              <a:t>Git</a:t>
            </a:r>
            <a:r>
              <a:rPr lang="pt-BR" u="sng" dirty="0"/>
              <a:t> </a:t>
            </a:r>
            <a:r>
              <a:rPr lang="pt-BR" u="sng" dirty="0" err="1"/>
              <a:t>add</a:t>
            </a:r>
            <a:r>
              <a:rPr lang="pt-BR" u="sng" dirty="0"/>
              <a:t>;</a:t>
            </a:r>
          </a:p>
          <a:p>
            <a:r>
              <a:rPr lang="pt-BR" dirty="0"/>
              <a:t>Prepara as alterações dos arquivos.</a:t>
            </a:r>
          </a:p>
          <a:p>
            <a:r>
              <a:rPr lang="pt-BR" dirty="0"/>
              <a:t>Adiciona os arquivos à área de </a:t>
            </a:r>
            <a:r>
              <a:rPr lang="pt-BR" dirty="0" err="1"/>
              <a:t>stage</a:t>
            </a:r>
            <a:r>
              <a:rPr lang="pt-BR" dirty="0"/>
              <a:t>\área de </a:t>
            </a:r>
            <a:r>
              <a:rPr lang="pt-BR" dirty="0" err="1"/>
              <a:t>prepapação</a:t>
            </a:r>
            <a:r>
              <a:rPr lang="pt-BR" dirty="0"/>
              <a:t>.</a:t>
            </a:r>
          </a:p>
          <a:p>
            <a:r>
              <a:rPr lang="pt-BR" dirty="0"/>
              <a:t>Define quais mudanças serão registradas.</a:t>
            </a:r>
          </a:p>
          <a:p>
            <a:r>
              <a:rPr lang="pt-BR" u="sng" dirty="0" err="1"/>
              <a:t>git</a:t>
            </a:r>
            <a:r>
              <a:rPr lang="pt-BR" u="sng" dirty="0"/>
              <a:t> </a:t>
            </a:r>
            <a:r>
              <a:rPr lang="pt-BR" u="sng" dirty="0" err="1"/>
              <a:t>commit</a:t>
            </a:r>
            <a:r>
              <a:rPr lang="pt-BR" u="sng" dirty="0"/>
              <a:t>;</a:t>
            </a:r>
          </a:p>
          <a:p>
            <a:r>
              <a:rPr lang="pt-BR" dirty="0"/>
              <a:t>Registra as alterações no histórico do projeto.</a:t>
            </a:r>
          </a:p>
          <a:p>
            <a:r>
              <a:rPr lang="pt-BR" dirty="0"/>
              <a:t>Cria um ponto de salvamento/versionamento.</a:t>
            </a:r>
          </a:p>
          <a:p>
            <a:r>
              <a:rPr lang="pt-BR" dirty="0"/>
              <a:t>Normalmente é usado após o </a:t>
            </a:r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add</a:t>
            </a:r>
            <a:r>
              <a:rPr lang="pt-BR" dirty="0"/>
              <a:t>.</a:t>
            </a:r>
          </a:p>
          <a:p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1760417424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92D586-3F7C-3202-E4F4-1F65B9A7D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1" cy="1629601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 err="1"/>
              <a:t>Git</a:t>
            </a:r>
            <a:r>
              <a:rPr lang="pt-BR" u="sng" dirty="0"/>
              <a:t> status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75DADF2-8E4D-6C0E-0FA2-C5228AF29C1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401" y="1726036"/>
            <a:ext cx="4992709" cy="4520218"/>
          </a:xfrm>
        </p:spPr>
        <p:txBody>
          <a:bodyPr rtlCol="0">
            <a:normAutofit lnSpcReduction="10000"/>
          </a:bodyPr>
          <a:lstStyle>
            <a:defPPr>
              <a:defRPr lang="pt-BR"/>
            </a:defPPr>
          </a:lstStyle>
          <a:p>
            <a:r>
              <a:rPr lang="pt-BR" dirty="0"/>
              <a:t>comando </a:t>
            </a:r>
            <a:r>
              <a:rPr lang="pt-BR" dirty="0" err="1"/>
              <a:t>Git</a:t>
            </a:r>
            <a:r>
              <a:rPr lang="pt-BR" dirty="0"/>
              <a:t> status é utilizado para verificar o estado atual do repositório no </a:t>
            </a:r>
            <a:r>
              <a:rPr lang="pt-BR" dirty="0" err="1"/>
              <a:t>Git</a:t>
            </a:r>
            <a:r>
              <a:rPr lang="pt-BR" dirty="0"/>
              <a:t>.</a:t>
            </a:r>
            <a:br>
              <a:rPr lang="pt-BR" dirty="0"/>
            </a:br>
            <a:r>
              <a:rPr lang="pt-BR" dirty="0"/>
              <a:t>Ele mostra quais arquivos foram modificados, adicionados ou removidos, além de indicar quais alterações ainda não foram salvas em um </a:t>
            </a:r>
            <a:r>
              <a:rPr lang="pt-BR" dirty="0" err="1"/>
              <a:t>commit</a:t>
            </a:r>
            <a:r>
              <a:rPr lang="pt-BR" dirty="0"/>
              <a:t>.</a:t>
            </a:r>
          </a:p>
          <a:p>
            <a:r>
              <a:rPr lang="pt-BR" b="1" dirty="0"/>
              <a:t>Principais informações exibidas:</a:t>
            </a:r>
          </a:p>
          <a:p>
            <a:r>
              <a:rPr lang="pt-BR" dirty="0"/>
              <a:t>Arquivos modificados </a:t>
            </a:r>
          </a:p>
          <a:p>
            <a:r>
              <a:rPr lang="pt-BR" dirty="0"/>
              <a:t>Arquivos prontos para </a:t>
            </a:r>
            <a:r>
              <a:rPr lang="pt-BR" dirty="0" err="1"/>
              <a:t>commit</a:t>
            </a:r>
            <a:r>
              <a:rPr lang="pt-BR" dirty="0"/>
              <a:t> </a:t>
            </a:r>
          </a:p>
          <a:p>
            <a:r>
              <a:rPr lang="pt-BR" dirty="0"/>
              <a:t>Arquivos não rastreados (</a:t>
            </a:r>
            <a:r>
              <a:rPr lang="pt-BR" dirty="0" err="1"/>
              <a:t>untracked</a:t>
            </a:r>
            <a:r>
              <a:rPr lang="pt-BR" dirty="0"/>
              <a:t>) </a:t>
            </a:r>
          </a:p>
          <a:p>
            <a:r>
              <a:rPr lang="pt-BR" dirty="0"/>
              <a:t>Situação da “Branch” (ramificação do projeto dentro do </a:t>
            </a:r>
            <a:r>
              <a:rPr lang="pt-BR" dirty="0" err="1"/>
              <a:t>Git</a:t>
            </a:r>
            <a:r>
              <a:rPr lang="pt-BR" dirty="0"/>
              <a:t>) atual</a:t>
            </a:r>
          </a:p>
          <a:p>
            <a:pPr rtl="0"/>
            <a:endParaRPr lang="pt-BR" noProof="1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CFADA2D-CE7A-511E-45B9-EAF4FA520E3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284891" y="2022250"/>
            <a:ext cx="4992709" cy="3747180"/>
          </a:xfrm>
        </p:spPr>
        <p:txBody>
          <a:bodyPr rtlCol="0"/>
          <a:lstStyle>
            <a:defPPr>
              <a:defRPr lang="pt-BR"/>
            </a:defPPr>
          </a:lstStyle>
          <a:p>
            <a:pPr marL="0" indent="0" rtl="0">
              <a:buNone/>
            </a:pPr>
            <a:r>
              <a:rPr lang="pt-BR" noProof="1"/>
              <a:t> 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FD4FFC83-A1E8-FCEA-2C47-38C5ADAEA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ACC856-988C-9F0D-EDF0-C84096169D61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07110" y="243737"/>
            <a:ext cx="6026957" cy="4520218"/>
          </a:xfrm>
          <a:prstGeom prst="rect">
            <a:avLst/>
          </a:prstGeom>
        </p:spPr>
      </p:pic>
      <p:pic>
        <p:nvPicPr>
          <p:cNvPr id="9" name="Gráfico 8" descr="Ásia com preenchimento sólido">
            <a:extLst>
              <a:ext uri="{FF2B5EF4-FFF2-40B4-BE49-F238E27FC236}">
                <a16:creationId xmlns:a16="http://schemas.microsoft.com/office/drawing/2014/main" id="{8F7F1B27-236B-0103-E9AA-220DC667AD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85053" y="3697174"/>
            <a:ext cx="6385091" cy="6385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04034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FEAA13-E02F-EB47-E510-E3F48A95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385" y="446313"/>
            <a:ext cx="5179615" cy="1448747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 err="1"/>
              <a:t>Git</a:t>
            </a:r>
            <a:r>
              <a:rPr lang="pt-BR" u="sng" dirty="0"/>
              <a:t> </a:t>
            </a:r>
            <a:r>
              <a:rPr lang="pt-BR" u="sng" dirty="0" err="1"/>
              <a:t>config</a:t>
            </a:r>
            <a:endParaRPr lang="pt-BR" u="sng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E26637-007F-EC9E-F644-AAFBA0900F3C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190671" y="1129965"/>
            <a:ext cx="3677056" cy="2940691"/>
          </a:xfrm>
        </p:spPr>
        <p:txBody>
          <a:bodyPr rtlCol="0">
            <a:normAutofit fontScale="70000" lnSpcReduction="20000"/>
          </a:bodyPr>
          <a:lstStyle>
            <a:defPPr>
              <a:defRPr lang="pt-BR"/>
            </a:defPPr>
          </a:lstStyle>
          <a:p>
            <a:r>
              <a:rPr lang="pt-BR" dirty="0"/>
              <a:t>é um comando para ler, definir e alterar configuração no </a:t>
            </a:r>
            <a:r>
              <a:rPr lang="pt-BR" dirty="0" err="1"/>
              <a:t>Git</a:t>
            </a:r>
            <a:endParaRPr lang="pt-BR" dirty="0"/>
          </a:p>
          <a:p>
            <a:r>
              <a:rPr lang="pt-BR" dirty="0" err="1"/>
              <a:t>informanções</a:t>
            </a:r>
            <a:r>
              <a:rPr lang="pt-BR" dirty="0"/>
              <a:t> e preferencias do usuário em 3 </a:t>
            </a:r>
            <a:r>
              <a:rPr lang="pt-BR" dirty="0" err="1"/>
              <a:t>niveis</a:t>
            </a:r>
            <a:r>
              <a:rPr lang="pt-BR" dirty="0"/>
              <a:t> diferentes</a:t>
            </a:r>
          </a:p>
          <a:p>
            <a:pPr lvl="1"/>
            <a:r>
              <a:rPr lang="pt-BR" dirty="0"/>
              <a:t>Local (--local): Afeta apenas o repositório atual. (Armazenado em .</a:t>
            </a:r>
            <a:r>
              <a:rPr lang="pt-BR" dirty="0" err="1"/>
              <a:t>git</a:t>
            </a:r>
            <a:r>
              <a:rPr lang="pt-BR" dirty="0"/>
              <a:t>/</a:t>
            </a:r>
            <a:r>
              <a:rPr lang="pt-BR" dirty="0" err="1"/>
              <a:t>config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Global (--global): Afeta todos os repositórios do seu usuário no sistema. (Armazenado em ~/.</a:t>
            </a:r>
            <a:r>
              <a:rPr lang="pt-BR" dirty="0" err="1"/>
              <a:t>gitconfig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Sistema (--system): Afeta todos os usuários e projetos do sistema operacional. (Armazenado em /</a:t>
            </a:r>
            <a:r>
              <a:rPr lang="pt-BR" dirty="0" err="1"/>
              <a:t>etc</a:t>
            </a:r>
            <a:r>
              <a:rPr lang="pt-BR" dirty="0"/>
              <a:t>/</a:t>
            </a:r>
            <a:r>
              <a:rPr lang="pt-BR" dirty="0" err="1"/>
              <a:t>gitconfig</a:t>
            </a:r>
            <a:r>
              <a:rPr lang="pt-BR" dirty="0"/>
              <a:t>)</a:t>
            </a:r>
          </a:p>
          <a:p>
            <a:pPr rtl="0"/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1DDD930B-FB1B-543D-6828-8C31F30BBD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pic>
        <p:nvPicPr>
          <p:cNvPr id="18" name="Espaço Reservado para Imagem 17">
            <a:extLst>
              <a:ext uri="{FF2B5EF4-FFF2-40B4-BE49-F238E27FC236}">
                <a16:creationId xmlns:a16="http://schemas.microsoft.com/office/drawing/2014/main" id="{1609D79A-E8EF-302E-E8CA-07C644CE0E0F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/>
          <a:srcRect l="5487" r="5487"/>
          <a:stretch/>
        </p:blipFill>
        <p:spPr>
          <a:xfrm>
            <a:off x="6076950" y="0"/>
            <a:ext cx="6115050" cy="6868886"/>
          </a:xfr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7FABB9C-4D57-ABB5-A523-B73D83FE9225}"/>
              </a:ext>
            </a:extLst>
          </p:cNvPr>
          <p:cNvSpPr txBox="1"/>
          <p:nvPr/>
        </p:nvSpPr>
        <p:spPr>
          <a:xfrm>
            <a:off x="278493" y="4070656"/>
            <a:ext cx="499718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Exemplos</a:t>
            </a:r>
          </a:p>
          <a:p>
            <a:pPr lvl="1"/>
            <a:r>
              <a:rPr lang="pt-BR" dirty="0"/>
              <a:t>Configurar o seu nome:</a:t>
            </a:r>
          </a:p>
          <a:p>
            <a:pPr lvl="2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config</a:t>
            </a:r>
            <a:r>
              <a:rPr lang="pt-BR" dirty="0"/>
              <a:t> --global user.name "Seu Nome"</a:t>
            </a:r>
          </a:p>
          <a:p>
            <a:pPr lvl="1"/>
            <a:r>
              <a:rPr lang="pt-BR" dirty="0"/>
              <a:t>Configurar o seu e-mail:</a:t>
            </a:r>
          </a:p>
          <a:p>
            <a:pPr lvl="2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config</a:t>
            </a:r>
            <a:r>
              <a:rPr lang="pt-BR" dirty="0"/>
              <a:t> --global </a:t>
            </a:r>
            <a:r>
              <a:rPr lang="pt-BR" dirty="0" err="1"/>
              <a:t>user.email</a:t>
            </a:r>
            <a:r>
              <a:rPr lang="pt-BR" dirty="0"/>
              <a:t> "</a:t>
            </a:r>
            <a:r>
              <a:rPr lang="pt-BR" u="sng" dirty="0">
                <a:hlinkClick r:id="rId4"/>
              </a:rPr>
              <a:t>seu-email@exemplo.com</a:t>
            </a:r>
            <a:r>
              <a:rPr lang="pt-BR" dirty="0"/>
              <a:t>"</a:t>
            </a:r>
          </a:p>
          <a:p>
            <a:pPr lvl="1"/>
            <a:r>
              <a:rPr lang="pt-BR" dirty="0"/>
              <a:t>Listar todas as configurações ativas:</a:t>
            </a:r>
          </a:p>
          <a:p>
            <a:pPr lvl="2"/>
            <a:r>
              <a:rPr lang="pt-BR" dirty="0" err="1"/>
              <a:t>git</a:t>
            </a:r>
            <a:r>
              <a:rPr lang="pt-BR" dirty="0"/>
              <a:t> </a:t>
            </a:r>
            <a:r>
              <a:rPr lang="pt-BR" dirty="0" err="1"/>
              <a:t>config</a:t>
            </a:r>
            <a:r>
              <a:rPr lang="pt-BR" dirty="0"/>
              <a:t> --</a:t>
            </a:r>
            <a:r>
              <a:rPr lang="pt-BR" dirty="0" err="1"/>
              <a:t>list</a:t>
            </a:r>
            <a:endParaRPr lang="pt-BR" dirty="0"/>
          </a:p>
          <a:p>
            <a:endParaRPr lang="pt-BR" dirty="0"/>
          </a:p>
        </p:txBody>
      </p:sp>
      <p:pic>
        <p:nvPicPr>
          <p:cNvPr id="7" name="Gráfico 6" descr="Cérebro na cabeça com preenchimento sólido">
            <a:extLst>
              <a:ext uri="{FF2B5EF4-FFF2-40B4-BE49-F238E27FC236}">
                <a16:creationId xmlns:a16="http://schemas.microsoft.com/office/drawing/2014/main" id="{AA507F30-3D2A-AEBA-2D92-CE8EEA0BD3C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1027" y="1320488"/>
            <a:ext cx="2559644" cy="255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7447069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D62B2F-534F-A196-1186-33D282CE3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10363202" cy="1603462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 err="1"/>
              <a:t>Git</a:t>
            </a:r>
            <a:r>
              <a:rPr lang="pt-BR" u="sng" dirty="0"/>
              <a:t> log</a:t>
            </a:r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0FF6EF25-1A43-B685-800B-85D36602EF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sp>
        <p:nvSpPr>
          <p:cNvPr id="8" name="Espaço Reservado para Conteúdo 7">
            <a:extLst>
              <a:ext uri="{FF2B5EF4-FFF2-40B4-BE49-F238E27FC236}">
                <a16:creationId xmlns:a16="http://schemas.microsoft.com/office/drawing/2014/main" id="{51FD468D-4DC4-F49E-3A43-568F508E64A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22250"/>
            <a:ext cx="5533535" cy="3914910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O </a:t>
            </a:r>
            <a:r>
              <a:rPr lang="pt-BR" dirty="0" err="1"/>
              <a:t>git</a:t>
            </a:r>
            <a:r>
              <a:rPr lang="pt-BR" dirty="0"/>
              <a:t> log é um comando que permite ver uma lista </a:t>
            </a:r>
            <a:r>
              <a:rPr lang="pt-BR" dirty="0" err="1"/>
              <a:t>cronologica</a:t>
            </a:r>
            <a:r>
              <a:rPr lang="pt-BR" dirty="0"/>
              <a:t> do histórico do </a:t>
            </a:r>
            <a:r>
              <a:rPr lang="pt-BR" dirty="0" err="1"/>
              <a:t>commits</a:t>
            </a:r>
            <a:r>
              <a:rPr lang="pt-BR" dirty="0"/>
              <a:t>. </a:t>
            </a:r>
          </a:p>
        </p:txBody>
      </p:sp>
      <p:sp>
        <p:nvSpPr>
          <p:cNvPr id="10" name="Espaço Reservado para Tabela 9">
            <a:extLst>
              <a:ext uri="{FF2B5EF4-FFF2-40B4-BE49-F238E27FC236}">
                <a16:creationId xmlns:a16="http://schemas.microsoft.com/office/drawing/2014/main" id="{833173F0-CE94-6819-FC5E-EDF8B8D56FF2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5997330" y="537705"/>
            <a:ext cx="6675437" cy="3932237"/>
          </a:xfrm>
        </p:spPr>
        <p:txBody>
          <a:bodyPr/>
          <a:lstStyle/>
          <a:p>
            <a:r>
              <a:rPr lang="pt-BR" dirty="0"/>
              <a:t> </a:t>
            </a:r>
          </a:p>
        </p:txBody>
      </p:sp>
      <p:pic>
        <p:nvPicPr>
          <p:cNvPr id="20" name="Gráfico 19" descr="Antártica com preenchimento sólido">
            <a:extLst>
              <a:ext uri="{FF2B5EF4-FFF2-40B4-BE49-F238E27FC236}">
                <a16:creationId xmlns:a16="http://schemas.microsoft.com/office/drawing/2014/main" id="{1AF283E9-D97D-B782-10A7-80270E5953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462089" y="3560672"/>
            <a:ext cx="4752975" cy="4752975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74A0D801-20E7-E6F0-1F7A-F7EF8E21769D}"/>
              </a:ext>
            </a:extLst>
          </p:cNvPr>
          <p:cNvPicPr>
            <a:picLocks noChangeAspect="1"/>
          </p:cNvPicPr>
          <p:nvPr/>
        </p:nvPicPr>
        <p:blipFill>
          <a:blip r:embed="rId4">
            <a:biLevel thresh="75000"/>
          </a:blip>
          <a:stretch/>
        </p:blipFill>
        <p:spPr>
          <a:xfrm rot="11618445">
            <a:off x="7606516" y="-471252"/>
            <a:ext cx="3862751" cy="7683517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5D106D78-10C9-246D-00BD-461E43D4EDA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 rot="217018">
            <a:off x="-433695" y="-797387"/>
            <a:ext cx="4016868" cy="5021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61472"/>
      </p:ext>
    </p:extLst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386DBB-D0DC-05D4-788C-E10EEF6B4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3674" y="103264"/>
            <a:ext cx="1568406" cy="55689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/>
              <a:t>Github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E41F64-E350-1F21-8A57-E740F48F3132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660159"/>
            <a:ext cx="6257366" cy="3914910"/>
          </a:xfrm>
        </p:spPr>
        <p:txBody>
          <a:bodyPr rtlCol="0"/>
          <a:lstStyle>
            <a:defPPr>
              <a:defRPr lang="pt-BR"/>
            </a:defPPr>
          </a:lstStyle>
          <a:p>
            <a:r>
              <a:rPr lang="pt-BR" dirty="0"/>
              <a:t>O GitHub é uma plataforma online utilizada para armazenar, compartilhar e gerenciar projetos de programação usando o </a:t>
            </a:r>
            <a:r>
              <a:rPr lang="pt-BR" dirty="0" err="1"/>
              <a:t>Git</a:t>
            </a:r>
            <a:r>
              <a:rPr lang="pt-BR" dirty="0"/>
              <a:t>.</a:t>
            </a:r>
          </a:p>
          <a:p>
            <a:r>
              <a:rPr lang="pt-BR" dirty="0"/>
              <a:t>Ele permite que desenvolvedores trabalhem em equipe, acompanhem alterações no código e mantenham versões organizadas dos projetos.</a:t>
            </a:r>
          </a:p>
          <a:p>
            <a:endParaRPr lang="pt-BR" dirty="0"/>
          </a:p>
          <a:p>
            <a:pPr rtl="0"/>
            <a:endParaRPr lang="pt-BR" dirty="0"/>
          </a:p>
          <a:p>
            <a:pPr rtl="0"/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735AC68-D86C-E73B-5402-F22C9F54DC0C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8014609" y="660159"/>
            <a:ext cx="2449514" cy="3931919"/>
          </a:xfrm>
        </p:spPr>
        <p:txBody>
          <a:bodyPr rtlCol="0">
            <a:normAutofit fontScale="92500"/>
          </a:bodyPr>
          <a:lstStyle>
            <a:defPPr>
              <a:defRPr lang="pt-BR"/>
            </a:defPPr>
          </a:lstStyle>
          <a:p>
            <a:r>
              <a:rPr lang="pt-BR" dirty="0"/>
              <a:t>Principais funções:</a:t>
            </a:r>
          </a:p>
          <a:p>
            <a:r>
              <a:rPr lang="pt-BR" dirty="0"/>
              <a:t>Armazenamento de projetos na nuvem </a:t>
            </a:r>
          </a:p>
          <a:p>
            <a:r>
              <a:rPr lang="pt-BR" dirty="0"/>
              <a:t>Controle de versões com </a:t>
            </a:r>
            <a:r>
              <a:rPr lang="pt-BR" dirty="0" err="1"/>
              <a:t>Git</a:t>
            </a:r>
            <a:r>
              <a:rPr lang="pt-BR" dirty="0"/>
              <a:t> </a:t>
            </a:r>
          </a:p>
          <a:p>
            <a:r>
              <a:rPr lang="pt-BR" dirty="0"/>
              <a:t>Trabalho colaborativo </a:t>
            </a:r>
          </a:p>
          <a:p>
            <a:r>
              <a:rPr lang="pt-BR" dirty="0"/>
              <a:t>Compartilhamento de códigos </a:t>
            </a:r>
          </a:p>
          <a:p>
            <a:r>
              <a:rPr lang="pt-BR" dirty="0"/>
              <a:t>Backup de projetos</a:t>
            </a:r>
          </a:p>
          <a:p>
            <a:endParaRPr lang="pt-BR" dirty="0"/>
          </a:p>
        </p:txBody>
      </p:sp>
      <p:sp>
        <p:nvSpPr>
          <p:cNvPr id="5" name="Espaço Reservado para o Número do Slide 4">
            <a:extLst>
              <a:ext uri="{FF2B5EF4-FFF2-40B4-BE49-F238E27FC236}">
                <a16:creationId xmlns:a16="http://schemas.microsoft.com/office/drawing/2014/main" id="{C99D2502-F7A7-039F-01A0-59462ADFF6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D58F427-6C5E-F3F6-4DA1-B21365556DDD}"/>
              </a:ext>
            </a:extLst>
          </p:cNvPr>
          <p:cNvSpPr txBox="1"/>
          <p:nvPr/>
        </p:nvSpPr>
        <p:spPr>
          <a:xfrm>
            <a:off x="8014609" y="4788142"/>
            <a:ext cx="36187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Vantagens:</a:t>
            </a:r>
          </a:p>
          <a:p>
            <a:r>
              <a:rPr lang="pt-BR" dirty="0"/>
              <a:t>Facilita o trabalho em equipe </a:t>
            </a:r>
          </a:p>
          <a:p>
            <a:r>
              <a:rPr lang="pt-BR" dirty="0"/>
              <a:t>Organização do desenvolvimento </a:t>
            </a:r>
          </a:p>
          <a:p>
            <a:r>
              <a:rPr lang="pt-BR" dirty="0"/>
              <a:t>Histórico de alterações do projeto </a:t>
            </a:r>
          </a:p>
          <a:p>
            <a:r>
              <a:rPr lang="pt-BR" dirty="0"/>
              <a:t>Acesso remoto aos arquivos</a:t>
            </a:r>
          </a:p>
          <a:p>
            <a:endParaRPr lang="pt-BR" dirty="0"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B5D4F3D9-606B-4811-38C9-F471A04D7E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545465" y="2517333"/>
            <a:ext cx="4576979" cy="434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06067"/>
      </p:ext>
    </p:extLst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8ECED9-3D31-C7EF-C4E5-0D218F611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3545" y="584477"/>
            <a:ext cx="10354052" cy="1209765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 err="1"/>
              <a:t>bitbucket</a:t>
            </a:r>
            <a:endParaRPr lang="pt-BR" u="sng" dirty="0"/>
          </a:p>
        </p:txBody>
      </p:sp>
      <p:sp>
        <p:nvSpPr>
          <p:cNvPr id="4" name="Espaço Reservado para o Número do Slide 3">
            <a:extLst>
              <a:ext uri="{FF2B5EF4-FFF2-40B4-BE49-F238E27FC236}">
                <a16:creationId xmlns:a16="http://schemas.microsoft.com/office/drawing/2014/main" id="{BFE50FF3-CE3C-DDFB-B8EA-5BA1668A10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dirty="0"/>
              <a:t>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EB6B1BB-9FB2-6B99-01CE-05BA53776E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4970" y="4253394"/>
            <a:ext cx="4273485" cy="240383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Espaço Reservado para Tabela 5">
            <a:extLst>
              <a:ext uri="{FF2B5EF4-FFF2-40B4-BE49-F238E27FC236}">
                <a16:creationId xmlns:a16="http://schemas.microsoft.com/office/drawing/2014/main" id="{5D84585E-F50B-0A93-75C8-55B5A7A76A8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/>
              <a:t>Descrição</a:t>
            </a:r>
          </a:p>
          <a:p>
            <a:r>
              <a:rPr lang="pt-BR" dirty="0"/>
              <a:t>é uma plataforma de hospedagem de </a:t>
            </a:r>
            <a:r>
              <a:rPr lang="pt-BR" dirty="0" err="1"/>
              <a:t>codigo-fonte</a:t>
            </a:r>
            <a:r>
              <a:rPr lang="pt-BR" dirty="0"/>
              <a:t> baseado no </a:t>
            </a:r>
            <a:r>
              <a:rPr lang="pt-BR" dirty="0" err="1"/>
              <a:t>git</a:t>
            </a:r>
            <a:endParaRPr lang="pt-BR" dirty="0"/>
          </a:p>
          <a:p>
            <a:r>
              <a:rPr lang="pt-BR" dirty="0" err="1"/>
              <a:t>Utilidad</a:t>
            </a:r>
            <a:endParaRPr lang="pt-BR" dirty="0"/>
          </a:p>
          <a:p>
            <a:r>
              <a:rPr lang="pt-BR" dirty="0"/>
              <a:t>oferece um ambiente centralizado para equipes de desenvolvimento</a:t>
            </a:r>
          </a:p>
          <a:p>
            <a:r>
              <a:rPr lang="pt-BR" dirty="0"/>
              <a:t>armazena, revisa e gerencia projetos de software</a:t>
            </a:r>
          </a:p>
          <a:p>
            <a:r>
              <a:rPr lang="pt-BR" dirty="0"/>
              <a:t>oferece recursos essenciais para o ciclo do desenvolvimentos de software</a:t>
            </a:r>
          </a:p>
          <a:p>
            <a:r>
              <a:rPr lang="pt-BR" dirty="0"/>
              <a:t>funções</a:t>
            </a:r>
          </a:p>
          <a:p>
            <a:pPr lvl="1"/>
            <a:r>
              <a:rPr lang="pt-BR" dirty="0"/>
              <a:t>Gerenciamento de Código</a:t>
            </a:r>
          </a:p>
          <a:p>
            <a:pPr lvl="1"/>
            <a:r>
              <a:rPr lang="pt-BR" dirty="0"/>
              <a:t>Revisão de Código (</a:t>
            </a:r>
            <a:r>
              <a:rPr lang="pt-BR" dirty="0" err="1"/>
              <a:t>Pull</a:t>
            </a:r>
            <a:r>
              <a:rPr lang="pt-BR" dirty="0"/>
              <a:t> </a:t>
            </a:r>
            <a:r>
              <a:rPr lang="pt-BR" dirty="0" err="1"/>
              <a:t>Requests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Automação de CI/CD (</a:t>
            </a:r>
            <a:r>
              <a:rPr lang="pt-BR" dirty="0" err="1"/>
              <a:t>Bitbucket</a:t>
            </a:r>
            <a:r>
              <a:rPr lang="pt-BR" dirty="0"/>
              <a:t> Pipelines</a:t>
            </a:r>
          </a:p>
          <a:p>
            <a:pPr lvl="1"/>
            <a:r>
              <a:rPr lang="pt-BR" dirty="0"/>
              <a:t>Rastreamento de Problemas (</a:t>
            </a:r>
            <a:r>
              <a:rPr lang="pt-BR" dirty="0" err="1"/>
              <a:t>Issues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Integração com ecossistema </a:t>
            </a:r>
            <a:r>
              <a:rPr lang="pt-BR" dirty="0" err="1"/>
              <a:t>Atlassian</a:t>
            </a: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pic>
        <p:nvPicPr>
          <p:cNvPr id="10" name="Gráfico 9" descr="Chat com preenchimento sólido">
            <a:extLst>
              <a:ext uri="{FF2B5EF4-FFF2-40B4-BE49-F238E27FC236}">
                <a16:creationId xmlns:a16="http://schemas.microsoft.com/office/drawing/2014/main" id="{D483ADC4-60E1-BFC3-FA4B-A12D25F7F6F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0696" y="84207"/>
            <a:ext cx="1817802" cy="181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350070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Elemento gráfico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ítulo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4" y="-2161721"/>
            <a:ext cx="5057104" cy="3624984"/>
          </a:xfrm>
        </p:spPr>
        <p:txBody>
          <a:bodyPr rtlCol="0"/>
          <a:lstStyle>
            <a:defPPr>
              <a:defRPr lang="pt-BR"/>
            </a:defPPr>
          </a:lstStyle>
          <a:p>
            <a:pPr rtl="0"/>
            <a:r>
              <a:rPr lang="pt-BR" u="sng" dirty="0"/>
              <a:t>Azure Devops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1F398FDD-E639-CF6A-B875-443655F2B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99523" y="1622443"/>
            <a:ext cx="5549095" cy="4967247"/>
          </a:xfrm>
        </p:spPr>
        <p:txBody>
          <a:bodyPr rtlCol="0">
            <a:normAutofit/>
          </a:bodyPr>
          <a:lstStyle>
            <a:defPPr>
              <a:defRPr lang="pt-BR"/>
            </a:defPPr>
          </a:lstStyle>
          <a:p>
            <a:r>
              <a:rPr lang="pt-BR" dirty="0"/>
              <a:t>Azure é uma ferramenta do </a:t>
            </a:r>
            <a:r>
              <a:rPr lang="pt-BR" b="1" dirty="0"/>
              <a:t>Azure </a:t>
            </a:r>
            <a:r>
              <a:rPr lang="pt-BR" b="1" dirty="0" err="1"/>
              <a:t>DevOps</a:t>
            </a:r>
            <a:r>
              <a:rPr lang="pt-BR" dirty="0"/>
              <a:t> que permite </a:t>
            </a:r>
            <a:r>
              <a:rPr lang="pt-BR" dirty="0" err="1"/>
              <a:t>usuarios</a:t>
            </a:r>
            <a:r>
              <a:rPr lang="pt-BR" dirty="0"/>
              <a:t> armazenarem e gerenciar </a:t>
            </a:r>
            <a:r>
              <a:rPr lang="pt-BR" dirty="0" err="1"/>
              <a:t>versionar</a:t>
            </a:r>
            <a:r>
              <a:rPr lang="pt-BR" dirty="0"/>
              <a:t> um </a:t>
            </a:r>
            <a:r>
              <a:rPr lang="pt-BR" dirty="0" err="1"/>
              <a:t>codigo-fonte</a:t>
            </a:r>
            <a:r>
              <a:rPr lang="pt-BR" dirty="0"/>
              <a:t> de projetos de software, permitindo que equipes trabalhem em conjunto</a:t>
            </a:r>
          </a:p>
          <a:p>
            <a:r>
              <a:rPr lang="pt-BR" dirty="0"/>
              <a:t>principais </a:t>
            </a:r>
            <a:r>
              <a:rPr lang="pt-BR" dirty="0" err="1"/>
              <a:t>caracteristicas</a:t>
            </a:r>
            <a:endParaRPr lang="pt-BR" dirty="0"/>
          </a:p>
          <a:p>
            <a:pPr lvl="1"/>
            <a:r>
              <a:rPr lang="pt-BR" dirty="0"/>
              <a:t>oferece suporte ao </a:t>
            </a:r>
            <a:r>
              <a:rPr lang="pt-BR" dirty="0" err="1"/>
              <a:t>git</a:t>
            </a:r>
            <a:r>
              <a:rPr lang="pt-BR" dirty="0"/>
              <a:t> (permite trabalhar offline e sincronizar nuvem)</a:t>
            </a:r>
          </a:p>
          <a:p>
            <a:pPr lvl="1"/>
            <a:r>
              <a:rPr lang="pt-BR" dirty="0"/>
              <a:t>seus </a:t>
            </a:r>
            <a:r>
              <a:rPr lang="pt-BR" dirty="0" err="1"/>
              <a:t>repositorios</a:t>
            </a:r>
            <a:r>
              <a:rPr lang="pt-BR" dirty="0"/>
              <a:t> da nuvem </a:t>
            </a:r>
            <a:r>
              <a:rPr lang="pt-BR" dirty="0" err="1"/>
              <a:t>sao</a:t>
            </a:r>
            <a:r>
              <a:rPr lang="pt-BR" dirty="0"/>
              <a:t> gratuitos</a:t>
            </a:r>
          </a:p>
          <a:p>
            <a:pPr lvl="1"/>
            <a:r>
              <a:rPr lang="pt-BR" dirty="0"/>
              <a:t>permite uma equipe com diversos membros trabalhar na revisão de um </a:t>
            </a:r>
            <a:r>
              <a:rPr lang="pt-BR" dirty="0" err="1"/>
              <a:t>codigo</a:t>
            </a:r>
            <a:endParaRPr lang="pt-BR" dirty="0"/>
          </a:p>
          <a:p>
            <a:pPr lvl="1"/>
            <a:r>
              <a:rPr lang="pt-BR" dirty="0"/>
              <a:t>Oferece suporte ao Team Foundation </a:t>
            </a:r>
            <a:r>
              <a:rPr lang="pt-BR" dirty="0" err="1"/>
              <a:t>Version</a:t>
            </a:r>
            <a:r>
              <a:rPr lang="pt-BR" dirty="0"/>
              <a:t> </a:t>
            </a:r>
            <a:r>
              <a:rPr lang="pt-BR" dirty="0" err="1"/>
              <a:t>Control</a:t>
            </a:r>
            <a:r>
              <a:rPr lang="pt-BR" dirty="0"/>
              <a:t> (TFVC).</a:t>
            </a:r>
          </a:p>
          <a:p>
            <a:br>
              <a:rPr lang="pt-BR" dirty="0"/>
            </a:b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BE3EE57-3366-C0BA-5C19-F65B16FFC0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2288" y="16762"/>
            <a:ext cx="2441746" cy="1526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3B572-9173-DF91-5F43-A112D2A72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u="sng" dirty="0"/>
              <a:t>Muito obrigado pela </a:t>
            </a:r>
            <a:r>
              <a:rPr lang="pt-BR" u="sng" dirty="0" err="1"/>
              <a:t>atencão</a:t>
            </a:r>
            <a:endParaRPr lang="pt-BR" u="sng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C51DE2C-AC8B-35A8-FA5E-65A9BBA8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3328125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Personalizado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3135245_TF22318419_Win32" id="{7D7699CB-82A5-408D-B906-79A03C112F61}" vid="{F4A829DA-EC99-46CA-8115-8FD6C37EE61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142</TotalTime>
  <Words>768</Words>
  <Application>Microsoft Office PowerPoint</Application>
  <PresentationFormat>Widescreen</PresentationFormat>
  <Paragraphs>113</Paragraphs>
  <Slides>11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7" baseType="lpstr">
      <vt:lpstr>Aharoni</vt:lpstr>
      <vt:lpstr>Arial</vt:lpstr>
      <vt:lpstr>Berlin Sans FB Demi</vt:lpstr>
      <vt:lpstr>Calibri</vt:lpstr>
      <vt:lpstr>Tenorite</vt:lpstr>
      <vt:lpstr>Personalizado</vt:lpstr>
      <vt:lpstr>Git – sistema de controle de versões distribuídos</vt:lpstr>
      <vt:lpstr>  </vt:lpstr>
      <vt:lpstr>  </vt:lpstr>
      <vt:lpstr> </vt:lpstr>
      <vt:lpstr>Git status</vt:lpstr>
      <vt:lpstr>Git config</vt:lpstr>
      <vt:lpstr>Git log</vt:lpstr>
      <vt:lpstr>Github</vt:lpstr>
      <vt:lpstr>bitbucket</vt:lpstr>
      <vt:lpstr>Azure Devops</vt:lpstr>
      <vt:lpstr>Muito obrigado pela atencão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DE CARVALHO VICENTE</dc:creator>
  <cp:lastModifiedBy>FELIPE DE CARVALHO VICENTE</cp:lastModifiedBy>
  <cp:revision>1</cp:revision>
  <dcterms:created xsi:type="dcterms:W3CDTF">2026-05-27T11:22:07Z</dcterms:created>
  <dcterms:modified xsi:type="dcterms:W3CDTF">2026-05-27T13:44:18Z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